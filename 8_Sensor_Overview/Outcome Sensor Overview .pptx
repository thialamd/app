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36004ab2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36004ab2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336004ab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336004ab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Programming Task - Android Sensors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370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90">
                <a:solidFill>
                  <a:schemeClr val="dk1"/>
                </a:solidFill>
              </a:rPr>
              <a:t>Questions:</a:t>
            </a:r>
            <a:endParaRPr b="1" sz="169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90">
                <a:solidFill>
                  <a:schemeClr val="dk1"/>
                </a:solidFill>
              </a:rPr>
              <a:t>1. Submit a screenshot of the output!</a:t>
            </a:r>
            <a:endParaRPr/>
          </a:p>
        </p:txBody>
      </p:sp>
      <p:pic>
        <p:nvPicPr>
          <p:cNvPr id="56" name="Google Shape;56;p13" title="PHOTO-2026-06-26-21-36-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098" y="601625"/>
            <a:ext cx="1960225" cy="435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2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Task - Android Sensors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78075" y="697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690">
                <a:solidFill>
                  <a:schemeClr val="dk1"/>
                </a:solidFill>
              </a:rPr>
              <a:t>Question </a:t>
            </a:r>
            <a:r>
              <a:rPr b="1" lang="en" sz="1690">
                <a:solidFill>
                  <a:schemeClr val="dk1"/>
                </a:solidFill>
              </a:rPr>
              <a:t>2. Which sensor could be used to measure Parkinson’s disease?</a:t>
            </a:r>
            <a:endParaRPr b="1" sz="141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01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015">
                <a:solidFill>
                  <a:schemeClr val="dk1"/>
                </a:solidFill>
              </a:rPr>
              <a:t>1. </a:t>
            </a:r>
            <a:r>
              <a:rPr b="1" lang="en" sz="1015">
                <a:solidFill>
                  <a:schemeClr val="dk1"/>
                </a:solidFill>
              </a:rPr>
              <a:t>Accelerometer</a:t>
            </a:r>
            <a:r>
              <a:rPr b="1" lang="en" sz="1015">
                <a:solidFill>
                  <a:schemeClr val="dk1"/>
                </a:solidFill>
              </a:rPr>
              <a:t> to detect tremor</a:t>
            </a:r>
            <a:endParaRPr b="1" sz="101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905">
                <a:solidFill>
                  <a:schemeClr val="dk1"/>
                </a:solidFill>
              </a:rPr>
              <a:t>In diseases such as Parkinson's, an involuntary tremor is typical.</a:t>
            </a:r>
            <a:endParaRPr sz="1205">
              <a:solidFill>
                <a:schemeClr val="dk1"/>
              </a:solidFill>
            </a:endParaRPr>
          </a:p>
          <a:p>
            <a:pPr indent="-28606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5"/>
              <a:buChar char="●"/>
            </a:pPr>
            <a:r>
              <a:rPr b="1" lang="en" sz="905">
                <a:solidFill>
                  <a:schemeClr val="dk1"/>
                </a:solidFill>
              </a:rPr>
              <a:t>The accelerometer measures the frequency (how many times per second) and the amplitude (how strong):</a:t>
            </a:r>
            <a:r>
              <a:rPr lang="en" sz="905">
                <a:solidFill>
                  <a:schemeClr val="dk1"/>
                </a:solidFill>
              </a:rPr>
              <a:t> For example, a Parkinson's tremor often has a very characteristic frequency of about 4 to 6 Hz (oscillations per second).</a:t>
            </a:r>
            <a:endParaRPr sz="905">
              <a:solidFill>
                <a:schemeClr val="dk1"/>
              </a:solidFill>
            </a:endParaRPr>
          </a:p>
          <a:p>
            <a:pPr indent="-28606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5"/>
              <a:buChar char="●"/>
            </a:pPr>
            <a:r>
              <a:rPr b="1" lang="en" sz="905">
                <a:solidFill>
                  <a:schemeClr val="dk1"/>
                </a:solidFill>
              </a:rPr>
              <a:t>The sensor signal allows algorithms</a:t>
            </a:r>
            <a:r>
              <a:rPr lang="en" sz="905">
                <a:solidFill>
                  <a:schemeClr val="dk1"/>
                </a:solidFill>
              </a:rPr>
              <a:t> to distinguish this tremor with crystal clarity from normal movements (such as drinking coffee or writing).</a:t>
            </a:r>
            <a:endParaRPr sz="90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015">
                <a:solidFill>
                  <a:schemeClr val="dk1"/>
                </a:solidFill>
              </a:rPr>
              <a:t>2. </a:t>
            </a:r>
            <a:r>
              <a:rPr b="1" lang="en" sz="1015">
                <a:solidFill>
                  <a:schemeClr val="dk1"/>
                </a:solidFill>
              </a:rPr>
              <a:t>Accelerometer for g</a:t>
            </a:r>
            <a:r>
              <a:rPr b="1" lang="en" sz="1015">
                <a:solidFill>
                  <a:schemeClr val="dk1"/>
                </a:solidFill>
              </a:rPr>
              <a:t>ait analysis</a:t>
            </a:r>
            <a:endParaRPr b="1" sz="101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905">
                <a:solidFill>
                  <a:schemeClr val="dk1"/>
                </a:solidFill>
              </a:rPr>
              <a:t>Motor neuron diseases often cause muscles to weaken or coordination to decline. This alters the gait pattern.</a:t>
            </a:r>
            <a:endParaRPr sz="905">
              <a:solidFill>
                <a:schemeClr val="dk1"/>
              </a:solidFill>
            </a:endParaRPr>
          </a:p>
          <a:p>
            <a:pPr indent="-28606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5"/>
              <a:buChar char="●"/>
            </a:pPr>
            <a:r>
              <a:rPr b="1" lang="en" sz="905">
                <a:solidFill>
                  <a:schemeClr val="dk1"/>
                </a:solidFill>
              </a:rPr>
              <a:t>When the patient carries the smartphone in their pants pocket</a:t>
            </a:r>
            <a:r>
              <a:rPr lang="en" sz="905">
                <a:solidFill>
                  <a:schemeClr val="dk1"/>
                </a:solidFill>
              </a:rPr>
              <a:t> or wears a sensor on their body, the accelerometer records the up-and-down as well as forward movements with every step.</a:t>
            </a:r>
            <a:endParaRPr sz="905">
              <a:solidFill>
                <a:schemeClr val="dk1"/>
              </a:solidFill>
            </a:endParaRPr>
          </a:p>
          <a:p>
            <a:pPr indent="-28606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5"/>
              <a:buChar char="●"/>
            </a:pPr>
            <a:r>
              <a:rPr b="1" lang="en" sz="905">
                <a:solidFill>
                  <a:schemeClr val="dk1"/>
                </a:solidFill>
              </a:rPr>
              <a:t>What can be read from this:</a:t>
            </a:r>
            <a:r>
              <a:rPr lang="en" sz="905">
                <a:solidFill>
                  <a:schemeClr val="dk1"/>
                </a:solidFill>
              </a:rPr>
              <a:t> One can measure whether the steps become asymmetrical, whether the patient shuffles, how long the stance phase of a foot is, or whether short episodes of "freezing" (Freezing of Gait) occur.</a:t>
            </a:r>
            <a:endParaRPr sz="90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2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29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